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4128"/>
            <a:ext cx="9144000" cy="36576"/>
          </a:xfrm>
          <a:prstGeom prst="rect">
            <a:avLst/>
          </a:prstGeom>
          <a:solidFill>
            <a:srgbClr val="4ECDC4">
              <a:alpha val="4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✍️  AI 글쓰기 &amp; 문서 작성 도구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850392"/>
            <a:ext cx="1645920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321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SLIDE  1 /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73152" cy="173736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71016"/>
            <a:ext cx="530352" cy="530352"/>
          </a:xfrm>
          <a:prstGeom prst="ellipse">
            <a:avLst/>
          </a:prstGeom>
          <a:solidFill>
            <a:srgbClr val="10A37F">
              <a:alpha val="80000"/>
            </a:srgbClr>
          </a:solidFill>
          <a:ln w="12700">
            <a:solidFill>
              <a:srgbClr val="10A37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709928"/>
            <a:ext cx="822960" cy="201168"/>
          </a:xfrm>
          <a:prstGeom prst="rect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A37F"/>
                </a:solidFill>
              </a:rPr>
              <a:t>생성형 AI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389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보고서·이메일·기획서를 자연어 명령으로 즉시 초안 생성. GPT-4o 기반의 가장 대중적인 AI 어시스턴트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318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31820" y="1115568"/>
            <a:ext cx="73152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6412" y="1271016"/>
            <a:ext cx="530352" cy="530352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64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090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09060" y="1709928"/>
            <a:ext cx="822960" cy="201168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9060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생성형 AI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2964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문서 분석·요약에 강점. 섬세한 문장 교정과 한국어 처리 능력이 탁월한 AI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115568"/>
            <a:ext cx="73152" cy="1737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3912" y="1271016"/>
            <a:ext cx="530352" cy="530352"/>
          </a:xfrm>
          <a:prstGeom prst="ellipse">
            <a:avLst/>
          </a:prstGeom>
          <a:solidFill>
            <a:srgbClr val="0078D4">
              <a:alpha val="80000"/>
            </a:srgbClr>
          </a:solidFill>
          <a:ln w="12700">
            <a:solidFill>
              <a:srgbClr val="0078D4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 Copilot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1709928"/>
            <a:ext cx="822960" cy="201168"/>
          </a:xfrm>
          <a:prstGeom prst="rect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8D4"/>
                </a:solidFill>
              </a:rPr>
              <a:t>오피스 통합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539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Word·Excel·PowerPoint에 내장된 AI. 기존 오피스 업무 흐름에서 즉시 사용 가능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99008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90088"/>
            <a:ext cx="73152" cy="173736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3145536"/>
            <a:ext cx="530352" cy="530352"/>
          </a:xfrm>
          <a:prstGeom prst="ellipse">
            <a:avLst/>
          </a:prstGeom>
          <a:solidFill>
            <a:srgbClr val="2D3748">
              <a:alpha val="80000"/>
            </a:srgbClr>
          </a:solidFill>
          <a:ln w="12700">
            <a:solidFill>
              <a:srgbClr val="2D3748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515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Notion AI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51560" y="3584448"/>
            <a:ext cx="822960" cy="201168"/>
          </a:xfrm>
          <a:prstGeom prst="rect">
            <a:avLst/>
          </a:prstGeom>
          <a:solidFill>
            <a:srgbClr val="2D3748">
              <a:alpha val="20000"/>
            </a:srgbClr>
          </a:solidFill>
          <a:ln w="12700">
            <a:solidFill>
              <a:srgbClr val="2D3748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3566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748"/>
                </a:solidFill>
              </a:rPr>
              <a:t>노트 / DB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38912" y="392277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 요약·번역·아이디어 생성. Notion 데이터베이스 연동 업무 자동화 지원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131820" y="299008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31820" y="2990088"/>
            <a:ext cx="73152" cy="1737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6412" y="3145536"/>
            <a:ext cx="530352" cy="530352"/>
          </a:xfrm>
          <a:prstGeom prst="ellipse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6412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9090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Gamma.app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909060" y="3584448"/>
            <a:ext cx="822960" cy="201168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09060" y="3566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366F1"/>
                </a:solidFill>
              </a:rPr>
              <a:t>프레젠테이션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96412" y="392277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입력만으로 AI가 슬라이드 자동 생성. 빠른 보고서·발표자료 PPT 제작에 최적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989320" y="299008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2990088"/>
            <a:ext cx="73152" cy="1737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53912" y="3145536"/>
            <a:ext cx="530352" cy="530352"/>
          </a:xfrm>
          <a:prstGeom prst="ellipse">
            <a:avLst/>
          </a:prstGeom>
          <a:solidFill>
            <a:srgbClr val="0369A1">
              <a:alpha val="80000"/>
            </a:srgbClr>
          </a:solidFill>
          <a:ln w="12700">
            <a:solidFill>
              <a:srgbClr val="0369A1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53912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7665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DeepL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66560" y="3584448"/>
            <a:ext cx="822960" cy="201168"/>
          </a:xfrm>
          <a:prstGeom prst="rect">
            <a:avLst/>
          </a:prstGeom>
          <a:solidFill>
            <a:srgbClr val="0369A1">
              <a:alpha val="20000"/>
            </a:srgbClr>
          </a:solidFill>
          <a:ln w="12700">
            <a:solidFill>
              <a:srgbClr val="0369A1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3566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369A1"/>
                </a:solidFill>
              </a:rPr>
              <a:t>AI 번역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53912" y="392277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업계 최고 수준의 AI 번역 품질. 문서·이메일·계약서 등 고품질 번역 자동화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AI 업무 자동화 &amp; 데이터 분석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850392"/>
            <a:ext cx="1645920" cy="18288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321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SLIDE  2 /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73152" cy="1737360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71016"/>
            <a:ext cx="530352" cy="530352"/>
          </a:xfrm>
          <a:prstGeom prst="ellipse">
            <a:avLst/>
          </a:prstGeom>
          <a:solidFill>
            <a:srgbClr val="FF4A00">
              <a:alpha val="80000"/>
            </a:srgbClr>
          </a:solidFill>
          <a:ln w="12700">
            <a:solidFill>
              <a:srgbClr val="FF4A0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Zapier 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709928"/>
            <a:ext cx="822960" cy="201168"/>
          </a:xfrm>
          <a:prstGeom prst="rect">
            <a:avLst/>
          </a:prstGeom>
          <a:solidFill>
            <a:srgbClr val="FF4A00">
              <a:alpha val="20000"/>
            </a:srgbClr>
          </a:solidFill>
          <a:ln w="12700">
            <a:solidFill>
              <a:srgbClr val="FF4A0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4A00"/>
                </a:solidFill>
              </a:rPr>
              <a:t>워크플로우 자동화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389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5,000개+ 앱을 연결하는 자동화 플랫폼. 코딩 없이 반복 업무를 자동화하고 트리거 설정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318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31820" y="1115568"/>
            <a:ext cx="73152" cy="173736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6412" y="1271016"/>
            <a:ext cx="530352" cy="530352"/>
          </a:xfrm>
          <a:prstGeom prst="ellipse">
            <a:avLst/>
          </a:prstGeom>
          <a:solidFill>
            <a:srgbClr val="0066FF">
              <a:alpha val="80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64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090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Automate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09060" y="1709928"/>
            <a:ext cx="822960" cy="201168"/>
          </a:xfrm>
          <a:prstGeom prst="rect">
            <a:avLst/>
          </a:prstGeom>
          <a:solidFill>
            <a:srgbClr val="0066FF">
              <a:alpha val="20000"/>
            </a:srgbClr>
          </a:solidFill>
          <a:ln w="12700">
            <a:solidFill>
              <a:srgbClr val="0066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9060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6FF"/>
                </a:solidFill>
              </a:rPr>
              <a:t>MS365 자동화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2964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전용 자동화 도구. Teams·Outlook·SharePoint를 완벽하게 연동 자동화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115568"/>
            <a:ext cx="73152" cy="173736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3912" y="1271016"/>
            <a:ext cx="530352" cy="530352"/>
          </a:xfrm>
          <a:prstGeom prst="ellipse">
            <a:avLst/>
          </a:prstGeom>
          <a:solidFill>
            <a:srgbClr val="10A37F">
              <a:alpha val="80000"/>
            </a:srgbClr>
          </a:solidFill>
          <a:ln w="12700">
            <a:solidFill>
              <a:srgbClr val="10A37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Analyst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1709928"/>
            <a:ext cx="822960" cy="201168"/>
          </a:xfrm>
          <a:prstGeom prst="rect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A37F"/>
                </a:solidFill>
              </a:rPr>
              <a:t>데이터 분석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539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Excel·CSV 파일 업로드 시 AI가 자동으로 분석·차트 생성. 복잡한 코딩 지식 불필요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99008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90088"/>
            <a:ext cx="73152" cy="1737360"/>
          </a:xfrm>
          <a:prstGeom prst="rect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3145536"/>
            <a:ext cx="530352" cy="530352"/>
          </a:xfrm>
          <a:prstGeom prst="ellipse">
            <a:avLst/>
          </a:prstGeom>
          <a:solidFill>
            <a:srgbClr val="EA4B71">
              <a:alpha val="80000"/>
            </a:srgbClr>
          </a:solidFill>
          <a:ln w="12700">
            <a:solidFill>
              <a:srgbClr val="EA4B71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515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n8n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51560" y="3584448"/>
            <a:ext cx="822960" cy="201168"/>
          </a:xfrm>
          <a:prstGeom prst="rect">
            <a:avLst/>
          </a:prstGeom>
          <a:solidFill>
            <a:srgbClr val="EA4B71">
              <a:alpha val="20000"/>
            </a:srgbClr>
          </a:solidFill>
          <a:ln w="12700">
            <a:solidFill>
              <a:srgbClr val="EA4B71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3566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4B71"/>
                </a:solidFill>
              </a:rPr>
              <a:t>오픈소스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38912" y="392277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오픈소스 자동화 플랫폼. 자체 서버 설치로 데이터 보안 유지하며 자유롭게 확장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131820" y="299008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31820" y="2990088"/>
            <a:ext cx="73152" cy="1737360"/>
          </a:xfrm>
          <a:prstGeom prst="rect">
            <a:avLst/>
          </a:prstGeom>
          <a:solidFill>
            <a:srgbClr val="6C2EB9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6412" y="3145536"/>
            <a:ext cx="530352" cy="530352"/>
          </a:xfrm>
          <a:prstGeom prst="ellipse">
            <a:avLst/>
          </a:prstGeom>
          <a:solidFill>
            <a:srgbClr val="6C2EB9">
              <a:alpha val="80000"/>
            </a:srgbClr>
          </a:solidFill>
          <a:ln w="12700">
            <a:solidFill>
              <a:srgbClr val="6C2EB9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6412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9090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(Integromat)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909060" y="3584448"/>
            <a:ext cx="822960" cy="201168"/>
          </a:xfrm>
          <a:prstGeom prst="rect">
            <a:avLst/>
          </a:prstGeom>
          <a:solidFill>
            <a:srgbClr val="6C2EB9">
              <a:alpha val="20000"/>
            </a:srgbClr>
          </a:solidFill>
          <a:ln w="12700">
            <a:solidFill>
              <a:srgbClr val="6C2EB9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09060" y="3566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C2EB9"/>
                </a:solidFill>
              </a:rPr>
              <a:t>시각적 자동화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96412" y="392277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드래그앤드롭 워크플로우 빌더. 복잡한 조건부 분기 자동화 설계에 탁월한 성능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989320" y="299008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2990088"/>
            <a:ext cx="73152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53912" y="3145536"/>
            <a:ext cx="530352" cy="530352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53912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7665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Perplexity AI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66560" y="3584448"/>
            <a:ext cx="822960" cy="201168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3566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AI 검색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53912" y="392277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웹 검색과 AI 분석을 결합한 리서치 도구. 최신 정보 기반 보고서 작성 지원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4128"/>
            <a:ext cx="9144000" cy="36576"/>
          </a:xfrm>
          <a:prstGeom prst="rect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🎙️  AI 회의 &amp; 커뮤니케이션 도구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850392"/>
            <a:ext cx="1645920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321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SLIDE  3 /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73152" cy="1737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71016"/>
            <a:ext cx="530352" cy="530352"/>
          </a:xfrm>
          <a:prstGeom prst="ellipse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Otter.ai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709928"/>
            <a:ext cx="822960" cy="201168"/>
          </a:xfrm>
          <a:prstGeom prst="rect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56DB"/>
                </a:solidFill>
              </a:rPr>
              <a:t>회의 녹취 · 요약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389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대면·화상 회의를 자동으로 녹취하고 요약. 실시간 자막과 키워드 검색 기능 제공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318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31820" y="1115568"/>
            <a:ext cx="73152" cy="17373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6412" y="1271016"/>
            <a:ext cx="530352" cy="530352"/>
          </a:xfrm>
          <a:prstGeom prst="ellipse">
            <a:avLst/>
          </a:prstGeom>
          <a:solidFill>
            <a:srgbClr val="6D28D9">
              <a:alpha val="80000"/>
            </a:srgbClr>
          </a:solidFill>
          <a:ln w="12700">
            <a:solidFill>
              <a:srgbClr val="6D28D9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64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090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Fireflies.ai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09060" y="1709928"/>
            <a:ext cx="822960" cy="201168"/>
          </a:xfrm>
          <a:prstGeom prst="rect">
            <a:avLst/>
          </a:prstGeom>
          <a:solidFill>
            <a:srgbClr val="6D28D9">
              <a:alpha val="20000"/>
            </a:srgbClr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9060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28D9"/>
                </a:solidFill>
              </a:rPr>
              <a:t>액션 아이템 추출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2964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자동 요약 + 담당자별 액션 아이템 추출. Zoom·Teams·Meet 화상회의 자동 연동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115568"/>
            <a:ext cx="73152" cy="1737360"/>
          </a:xfrm>
          <a:prstGeom prst="rect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3912" y="1271016"/>
            <a:ext cx="530352" cy="530352"/>
          </a:xfrm>
          <a:prstGeom prst="ellipse">
            <a:avLst/>
          </a:prstGeom>
          <a:solidFill>
            <a:srgbClr val="03C75A">
              <a:alpha val="80000"/>
            </a:srgbClr>
          </a:solidFill>
          <a:ln w="12700">
            <a:solidFill>
              <a:srgbClr val="03C75A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Clova Note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1709928"/>
            <a:ext cx="822960" cy="201168"/>
          </a:xfrm>
          <a:prstGeom prst="rect">
            <a:avLst/>
          </a:prstGeom>
          <a:solidFill>
            <a:srgbClr val="03C75A">
              <a:alpha val="20000"/>
            </a:srgbClr>
          </a:solidFill>
          <a:ln w="12700">
            <a:solidFill>
              <a:srgbClr val="03C75A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3C75A"/>
                </a:solidFill>
              </a:rPr>
              <a:t>한국어 특화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539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AI 기반 회의록. 한국어 음성 인식 최적화, 화자 구분, 회의록 자동 정리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99008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90088"/>
            <a:ext cx="73152" cy="1737360"/>
          </a:xfrm>
          <a:prstGeom prst="rect">
            <a:avLst/>
          </a:prstGeom>
          <a:solidFill>
            <a:srgbClr val="15C39A"/>
          </a:solidFill>
          <a:ln w="12700">
            <a:solidFill>
              <a:srgbClr val="15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3145536"/>
            <a:ext cx="530352" cy="530352"/>
          </a:xfrm>
          <a:prstGeom prst="ellipse">
            <a:avLst/>
          </a:prstGeom>
          <a:solidFill>
            <a:srgbClr val="15C39A">
              <a:alpha val="80000"/>
            </a:srgbClr>
          </a:solidFill>
          <a:ln w="12700">
            <a:solidFill>
              <a:srgbClr val="15C39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515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51560" y="3584448"/>
            <a:ext cx="822960" cy="201168"/>
          </a:xfrm>
          <a:prstGeom prst="rect">
            <a:avLst/>
          </a:prstGeom>
          <a:solidFill>
            <a:srgbClr val="15C39A">
              <a:alpha val="20000"/>
            </a:srgbClr>
          </a:solidFill>
          <a:ln w="12700">
            <a:solidFill>
              <a:srgbClr val="15C39A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3566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C39A"/>
                </a:solidFill>
              </a:rPr>
              <a:t>영문 교정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38912" y="392277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영문 맞춤법·문법·스타일 교정. 이메일·보고서 작성 시 품질 자동 향상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131820" y="299008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31820" y="2990088"/>
            <a:ext cx="73152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6412" y="3145536"/>
            <a:ext cx="530352" cy="530352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6412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9090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Writesonic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909060" y="3584448"/>
            <a:ext cx="822960" cy="201168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09060" y="3566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콘텐츠 생성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96412" y="392277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카피·SNS 포스트·뉴스레터 AI 생성. 브랜드 톤앤매너를 유지하며 대량 제작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989320" y="299008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2990088"/>
            <a:ext cx="73152" cy="17373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53912" y="3145536"/>
            <a:ext cx="530352" cy="530352"/>
          </a:xfrm>
          <a:prstGeom prst="ellipse">
            <a:avLst/>
          </a:prstGeom>
          <a:solidFill>
            <a:srgbClr val="E11D48">
              <a:alpha val="80000"/>
            </a:srgbClr>
          </a:solidFill>
          <a:ln w="12700">
            <a:solidFill>
              <a:srgbClr val="E11D48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53912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7665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Beautiful.ai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66560" y="3584448"/>
            <a:ext cx="822960" cy="201168"/>
          </a:xfrm>
          <a:prstGeom prst="rect">
            <a:avLst/>
          </a:prstGeom>
          <a:solidFill>
            <a:srgbClr val="E11D48">
              <a:alpha val="20000"/>
            </a:srgbClr>
          </a:solidFill>
          <a:ln w="12700">
            <a:solidFill>
              <a:srgbClr val="E11D48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3566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11D48"/>
                </a:solidFill>
              </a:rPr>
              <a:t>디자인 PPT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53912" y="392277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스마트 레이아웃 자동 적용 프레젠테이션 툴. 내용 입력 시 디자인이 자동 최적화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엑셀 자료 정리 &amp; 데이터 분석 AI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850392"/>
            <a:ext cx="1645920" cy="182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321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</a:rPr>
              <a:t>SLIDE  4 /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73152" cy="173736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71016"/>
            <a:ext cx="530352" cy="530352"/>
          </a:xfrm>
          <a:prstGeom prst="ellipse">
            <a:avLst/>
          </a:prstGeom>
          <a:solidFill>
            <a:srgbClr val="217346">
              <a:alpha val="80000"/>
            </a:srgbClr>
          </a:solidFill>
          <a:ln w="12700">
            <a:solidFill>
              <a:srgbClr val="21734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Copilot in Excel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709928"/>
            <a:ext cx="914400" cy="201168"/>
          </a:xfrm>
          <a:prstGeom prst="rect">
            <a:avLst/>
          </a:prstGeom>
          <a:solidFill>
            <a:srgbClr val="217346">
              <a:alpha val="20000"/>
            </a:srgbClr>
          </a:solidFill>
          <a:ln w="12700">
            <a:solidFill>
              <a:srgbClr val="21734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691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17346"/>
                </a:solidFill>
              </a:rPr>
              <a:t>MS365 내장 AI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389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자연어로 데이터 분석·피벗테이블·차트 자동 생성. Microsoft 365 구독 시 Excel에 즉시 탑재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318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31820" y="1115568"/>
            <a:ext cx="73152" cy="173736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6412" y="1271016"/>
            <a:ext cx="530352" cy="530352"/>
          </a:xfrm>
          <a:prstGeom prst="ellipse">
            <a:avLst/>
          </a:prstGeom>
          <a:solidFill>
            <a:srgbClr val="10A37F">
              <a:alpha val="80000"/>
            </a:srgbClr>
          </a:solidFill>
          <a:ln w="12700">
            <a:solidFill>
              <a:srgbClr val="10A37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64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090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수식 생성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09060" y="1709928"/>
            <a:ext cx="914400" cy="201168"/>
          </a:xfrm>
          <a:prstGeom prst="rect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9060" y="1691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A37F"/>
                </a:solidFill>
              </a:rPr>
              <a:t>수식 자동화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2964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VLOOKUP·INDEX·MATCH 등 복잡한 수식을 자연어로 요청하면 즉시 완성. 오류 해설도 가능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115568"/>
            <a:ext cx="73152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3912" y="1271016"/>
            <a:ext cx="530352" cy="530352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1271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 Bot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1709928"/>
            <a:ext cx="914400" cy="20116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691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수식 전문 AI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53912" y="2048256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수식 자동 생성 전문 도구. 수식 설명·오류 수정·VBA 코드 변환 기능을 원스톱 제공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990088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90088"/>
            <a:ext cx="4069080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026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📌  꼭 알아야 할 엑셀 함수 TOP 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383280"/>
            <a:ext cx="4069080" cy="237744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4107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VLOOKUP / XLOOKUP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938528" y="341071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다른 표에서 값 자동 검색·매핑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" y="36530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SUMIF / COUNTIF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38528" y="36530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조건부 합계·개수 집계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867912"/>
            <a:ext cx="4069080" cy="237744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8953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+ MATCH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38528" y="389534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유연한 양방향 데이터 조회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4048" y="41376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TABLE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938528" y="413766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드래그앤드롭 데이터 요약·분석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352544"/>
            <a:ext cx="4069080" cy="237744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3799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IFERROR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938528" y="437997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오류값 자동 처리·대체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84048" y="46222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/ DATE 함수군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938528" y="462229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날짜·텍스트 형식 자동 변환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2990088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0" y="2990088"/>
            <a:ext cx="4297680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302666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 AI 데이터 정리 5단계 프로세스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81728" y="3429000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81728" y="3429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</a:rPr>
              <a:t>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56048" y="3410712"/>
            <a:ext cx="3785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데이터 업로드 → ChatGPT에 정리 요청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81728" y="3717036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81728" y="37170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</a:rPr>
              <a:t>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56048" y="3698748"/>
            <a:ext cx="3785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중복·공란·오류값 AI 자동 탐지 및 수정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81728" y="4005072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81728" y="4005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</a:rPr>
              <a:t>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56048" y="3986784"/>
            <a:ext cx="3785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Copilot으로 피벗테이블·차트 자동 생성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681728" y="4293108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81728" y="42931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</a:rPr>
              <a:t>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956048" y="4274820"/>
            <a:ext cx="3785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SUMIF/VLOOKUP 수식 AI 생성 후 적용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681728" y="4581144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81728" y="4581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</a:rPr>
              <a:t>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956048" y="4562856"/>
            <a:ext cx="3785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Query로 정제 과정 자동화·반복 저장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2026-03-14T02:00:05Z</dcterms:created>
  <dcterms:modified xsi:type="dcterms:W3CDTF">2026-03-14T02:00:05Z</dcterms:modified>
</cp:coreProperties>
</file>